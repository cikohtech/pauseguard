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b085bff3c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b085bff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4.jpg"/><Relationship Id="rId6" Type="http://schemas.openxmlformats.org/officeDocument/2006/relationships/image" Target="../media/image15.jpg"/><Relationship Id="rId7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cikohtech/pauseguard" TargetMode="External"/><Relationship Id="rId6" Type="http://schemas.openxmlformats.org/officeDocument/2006/relationships/hyperlink" Target="https://pauseguard-sg.web.app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Cikoh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Md Asif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1" marL="68580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1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Authorised-push-payment scams. In 81.8% of Singapore's 41,974 scam cases in 2025 the victim sent the money themselves (S$913.1M lost; SPF, Feb 2026). The device, password and OTP are genuine, so bank fraud models see a normal payment; the evidence is in the chat that persuaded the customer, which the bank never sees.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5092475" y="1968750"/>
            <a:ext cx="3311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lt1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Note:</a:t>
            </a: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 Please download this template to make your edits and submit the final version.</a:t>
            </a: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b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</a:br>
            <a:r>
              <a:rPr lang="en-GB" sz="1100">
                <a:solidFill>
                  <a:schemeClr val="lt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download, go to File &gt; Download &gt; Microsoft PowerPoint (.PPTX). Kindly refrain from sending edit requests.</a:t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Google Sans Flex"/>
              <a:ea typeface="Google Sans Flex"/>
              <a:cs typeface="Google Sans Flex"/>
              <a:sym typeface="Google Sans Flex"/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4203" y="1194675"/>
            <a:ext cx="3604250" cy="2621725"/>
          </a:xfrm>
          <a:prstGeom prst="rect">
            <a:avLst/>
          </a:prstGeom>
          <a:noFill/>
          <a:ln>
            <a:noFill/>
          </a:ln>
          <a:effectLst>
            <a:outerShdw blurRad="971550" rotWithShape="0" algn="bl" dir="5400000" dist="19050">
              <a:schemeClr val="lt1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92608" y="1216152"/>
            <a:ext cx="5623560" cy="373989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700"/>
              </a:spcAft>
              <a:buFont typeface="Google Sans Flex"/>
              <a:buChar char="●"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PauseGuard is an AI copilot inside the bank's payment flow.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Fraud models check the transaction; PauseGuard checks the conversation.</a:t>
            </a:r>
          </a:p>
          <a:p>
            <a:pPr algn="l" marL="164592" indent="-164592">
              <a:spcAft>
                <a:spcPts val="700"/>
              </a:spcAft>
              <a:buFont typeface="Google Sans Flex"/>
              <a:buChar char="●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When a transfer looks risky, the app asks one question, "Who asked you to make this payment?", and the customer can share the chat, screenshot or PDF behind it.</a:t>
            </a:r>
          </a:p>
          <a:p>
            <a:pPr algn="l" marL="164592" indent="-164592">
              <a:spcAft>
                <a:spcPts val="700"/>
              </a:spcAft>
              <a:buFont typeface="Google Sans Flex"/>
              <a:buChar char="●"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agents built with ADK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read the evidence (multimodal), find red flags and the scammer's number, account and links, and check them against a shared watchlist and the live web.</a:t>
            </a:r>
          </a:p>
          <a:p>
            <a:pPr algn="l" marL="164592" indent="-164592">
              <a:spcAft>
                <a:spcPts val="700"/>
              </a:spcAft>
              <a:buFont typeface="Google Sans Flex"/>
              <a:buChar char="●"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transparent rule policy, not the LLM, decides: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GREEN (send), AMBER (pause and explain, the customer decides) or RED (hold for a bank analyst).</a:t>
            </a:r>
          </a:p>
          <a:p>
            <a:pPr algn="l" marL="164592" indent="-164592">
              <a:spcAft>
                <a:spcPts val="700"/>
              </a:spcAft>
              <a:buFont typeface="Google Sans Flex"/>
              <a:buChar char="●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The customer sees exactly why: numbered boxes on their own screenshot, in English or Chinese. The analyst gets a live case file and can block the scammer for every customer in one click.</a:t>
            </a:r>
          </a:p>
        </p:txBody>
      </p:sp>
      <p:pic>
        <p:nvPicPr>
          <p:cNvPr id="73" name="Picture 7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93" y="1124712"/>
            <a:ext cx="2250332" cy="38313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429222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different is it from any of the other existing ideas?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rtl="0" algn="l">
              <a:spcBef>
                <a:spcPts val="0"/>
              </a:spcBef>
              <a:spcAft>
                <a:spcPts val="900"/>
              </a:spcAft>
              <a:buSzPts val="1300"/>
              <a:buNone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Transaction monitoring and generic "beware of scams" pop-ups never see the social engineering. PauseGuard analyses the actual conversation at the moment of payment, multimodally, and explains the specific red flags to this customer.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How will it be able to solve the problem?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rtl="0" algn="l">
              <a:spcBef>
                <a:spcPts val="0"/>
              </a:spcBef>
              <a:spcAft>
                <a:spcPts val="900"/>
              </a:spcAft>
              <a:buSzPts val="1300"/>
              <a:buNone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It catches persuaded payments that look normal to fraud models (rules alone missed 22% of our test scams), breaks the scammer's spell with a personal explanation, keeps legitimate payments flowing (4% false positives vs 44% for rules), and turns each held payment into a ready case file and watchlist entry for the bank.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Google Sans Flex"/>
              <a:buChar char="●"/>
            </a:pPr>
            <a:r>
              <a:rPr lang="en-GB"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USP of the proposed solution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457200" rtl="0" algn="l">
              <a:spcBef>
                <a:spcPts val="0"/>
              </a:spcBef>
              <a:spcAft>
                <a:spcPts val="900"/>
              </a:spcAft>
              <a:buSzPts val="1300"/>
              <a:buNone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"Check the conversation, not just the transaction": explainable (boxes on the screenshot, written rules), bilingual, human-in-the-loop, safe by default (a failure never says GREEN), and one API call for a bank to add to its payment flow.</a:t>
            </a:r>
            <a:endParaRPr sz="13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292608" y="1170432"/>
            <a:ext cx="4165091" cy="3785615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29768" y="1261872"/>
            <a:ext cx="38907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For the customer (bank app)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29768" y="1627632"/>
            <a:ext cx="3890772" cy="323697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Smart trigger: transaction risk from BigQuery features; every first payment to a new payee gets a check-in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One-question check-in: quick replies, free text, screenshot or PDF upload, pasted chat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Live progress ticks while the agents work (server-sent events)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Red flags boxed on the customer's own screenshot and marked in pasted text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Explanations in English or Chinese; no blame, plain language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AMBER: pause 24 h, call a trusted contact, or continue after confirming; RED: payment held, 1799 anti-scam helpline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WCAG 2.1 AA, keyboard and screen-reader tested, on phone and desktop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686300" y="1170432"/>
            <a:ext cx="4165091" cy="3785615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4823460" y="1261872"/>
            <a:ext cx="38907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For the bank (analyst console)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823460" y="1627632"/>
            <a:ext cx="3890772" cy="323697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Realtime queue (Firestore listener): a held payment appears before the customer's screen does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Case view: AI case file, evidence with boxes, risk chart, watchlist and web intel with sources, audit trail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One-key decisions (release, hold, escalate, report scam) with notes and a full audit log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Self-learning watchlist: a reported scam blocks its number, account and links for everyone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Dashboard: money protected, verdict mix, false-positive rate, latency, cost per check, top scam types</a:t>
            </a:r>
          </a:p>
          <a:p>
            <a:pPr algn="l" marL="164592" indent="-164592">
              <a:spcAft>
                <a:spcPts val="500"/>
              </a:spcAft>
              <a:buFont typeface="Google Sans Flex"/>
              <a:buChar char="●"/>
            </a:pPr>
            <a:r>
              <a:rPr sz="11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Safety: prompt-injection hard stop, PII redaction, 30-day evidence deletion, Singapore data region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713" y="1170432"/>
            <a:ext cx="7364573" cy="3785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442168"/>
            <a:ext cx="1587398" cy="270264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246888" y="4480560"/>
            <a:ext cx="167883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Persona picker: three synthetic customers</a:t>
            </a:r>
          </a:p>
        </p:txBody>
      </p:sp>
      <p:pic>
        <p:nvPicPr>
          <p:cNvPr id="106" name="Picture 10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454" y="1442168"/>
            <a:ext cx="1587398" cy="270264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1989734" y="4480560"/>
            <a:ext cx="167883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One-question check-in, evidence attached</a:t>
            </a:r>
          </a:p>
        </p:txBody>
      </p:sp>
      <p:pic>
        <p:nvPicPr>
          <p:cNvPr id="108" name="Picture 107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8300" y="1442168"/>
            <a:ext cx="1587398" cy="270264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3732580" y="4480560"/>
            <a:ext cx="167883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AMBER: the job-scam pattern explained</a:t>
            </a:r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21147" y="1442168"/>
            <a:ext cx="1587398" cy="270264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1" name="TextBox 110"/>
          <p:cNvSpPr txBox="1"/>
          <p:nvPr/>
        </p:nvSpPr>
        <p:spPr>
          <a:xfrm>
            <a:off x="5475427" y="4480560"/>
            <a:ext cx="167883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RED: payment held, red flags boxed</a:t>
            </a:r>
          </a:p>
        </p:txBody>
      </p:sp>
      <p:pic>
        <p:nvPicPr>
          <p:cNvPr id="112" name="Picture 111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3993" y="1442168"/>
            <a:ext cx="1587398" cy="2702647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13" name="TextBox 112"/>
          <p:cNvSpPr txBox="1"/>
          <p:nvPr/>
        </p:nvSpPr>
        <p:spPr>
          <a:xfrm>
            <a:off x="7218273" y="4480560"/>
            <a:ext cx="1678838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The same RED for Mrs Tan, in Chinese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693" y="1097280"/>
            <a:ext cx="7820613" cy="2852928"/>
          </a:xfrm>
          <a:prstGeom prst="rect">
            <a:avLst/>
          </a:prstGeom>
        </p:spPr>
      </p:pic>
      <p:sp>
        <p:nvSpPr>
          <p:cNvPr id="113" name="Rounded Rectangle 112"/>
          <p:cNvSpPr/>
          <p:nvPr/>
        </p:nvSpPr>
        <p:spPr>
          <a:xfrm>
            <a:off x="292608" y="4005072"/>
            <a:ext cx="2036826" cy="95097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365760" y="4041648"/>
            <a:ext cx="1890522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Firebase:</a:t>
            </a:r>
            <a:r>
              <a:rPr sz="9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Hosting serves the customer app and analyst console; Auth signs in customers (anonymous) and analysts (role claim)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2466594" y="4005072"/>
            <a:ext cx="2036826" cy="95097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2539746" y="4041648"/>
            <a:ext cx="1890522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Firestore:</a:t>
            </a:r>
            <a:r>
              <a:rPr sz="9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checks, cases, watchlist, audit; realtime listeners drive the live console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640580" y="4005072"/>
            <a:ext cx="2036826" cy="95097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4713732" y="4041648"/>
            <a:ext cx="1890522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Run:</a:t>
            </a:r>
            <a:r>
              <a:rPr sz="9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FastAPI + ADK agents in Singapore; parallel analysis with a 12 s budget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814566" y="4005072"/>
            <a:ext cx="2036826" cy="95097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6887718" y="4041648"/>
            <a:ext cx="1890522" cy="87782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on Vertex AI:</a:t>
            </a:r>
            <a:r>
              <a:rPr sz="9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5 ADK agents: evidence (vision + boxes), explainer, case file, scam intel, Google Search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292608" y="1170432"/>
            <a:ext cx="8558784" cy="3785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AI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3.8 Flash on Vertex AI: multimodal (images, PDFs), bounding boxes, structured JSON output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Agent Development Kit (ADK): 5 LlmAgents, function tools, AgentTool, eval sets, OpenTelemetry tracing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Grounding with Google Search for live scam intelligence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Cloud platform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(asia-southeast1) · Firebase Hosting · Firebase Auth · Firestore (realtime) · BigQuery · Cloud Storage (signed URLs, 30-day lifecycle) · Secret Manager · Cloud Logging · Cloud Trace · Cloud Scheduler · Cloud Monitoring · Cloud Build · Artifact Registry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Application stack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Python 3.12, FastAPI, Pydantic v2, pytest · React, TypeScript, Vite, Tailwind CSS, shadcn/ui, Recharts · Playwright + axe for accessibility tests · SQLite + Firebase emulators for local development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292608" y="1170432"/>
            <a:ext cx="8558784" cy="3785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Prototype (live through judging): ≈ US$8–14 a month.</a:t>
            </a:r>
            <a:r>
              <a:rPr sz="13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Scales to zero; Gemini ≈ US$6 for ~900 checks; BigQuery, Firestore, Storage and Hosting stay in the free tiers.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Pilot, one bank, 50,000 checks a month: ≈ US$2,300 a month, ≈ US$0.046 per check.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tokens US$351 (5,216 in / 831 out per check, measured; US$0.0070 a check)</a:t>
            </a:r>
          </a:p>
          <a:p>
            <a:pPr algn="l" marL="365760" indent="-164592">
              <a:spcAft>
                <a:spcPts val="800"/>
              </a:spcAft>
              <a:buFont typeface="Google Sans Flex"/>
              <a:buChar char="–"/>
            </a:pPr>
            <a:r>
              <a:rPr sz="12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Google Search grounding US$1,874 (2.8 queries a check, only on AMBER/RED); Cloud Run (1–2 warm instances) US$58–121; BigQuery US$12; Firestore, Storage, Scheduler ≈ US$2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Next optimisation:</a:t>
            </a:r>
            <a:r>
              <a:rPr sz="13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cache web intel per domain and skip it on watchlist hits → ≈ US$1,050 a month (≈ US$0.021 a check).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3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Return:</a:t>
            </a:r>
            <a:r>
              <a:rPr sz="13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the median scam loss in Singapore is S$1,644 (SPF 2025). One stopped scam pays for ≈ 27,500 checks; the pilot breaks even at about two stopped scams a month.</a:t>
            </a:r>
          </a:p>
          <a:p>
            <a:pPr algn="l" marL="164592" indent="-164592">
              <a:spcAft>
                <a:spcPts val="800"/>
              </a:spcAft>
              <a:buFont typeface="Google Sans Flex"/>
              <a:buChar char="●"/>
            </a:pPr>
            <a:r>
              <a:rPr sz="13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Prices: Google Cloud list prices, Singapore region where applicable, retrieved Oct 2026 (Gemini 3.8 Flash introductory price until 31 Dec 2026). Method and sources: docs/COSTS.md.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" y="1170432"/>
            <a:ext cx="5296204" cy="331012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292608" y="4526280"/>
            <a:ext cx="52962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Analyst console (live, Firestore listener): Mrs Tan's case, her screenshot with the red flags boxed, the entities on the watchlist and what the evidence says</a:t>
            </a:r>
          </a:p>
        </p:txBody>
      </p:sp>
      <p:pic>
        <p:nvPicPr>
          <p:cNvPr id="138" name="Picture 13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170432"/>
            <a:ext cx="2691993" cy="1682496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6108192" y="2880360"/>
            <a:ext cx="2788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Dashboard: money protected, verdicts, false-positive rate, latency and cost per check</a:t>
            </a:r>
          </a:p>
        </p:txBody>
      </p:sp>
      <p:pic>
        <p:nvPicPr>
          <p:cNvPr id="140" name="Picture 139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912" y="3182112"/>
            <a:ext cx="2691993" cy="1682496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6108192" y="4892040"/>
            <a:ext cx="2788920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5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Landing page: both entry points and the problem statistic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292608" y="1124712"/>
            <a:ext cx="855878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100 held-out synthetic cases (50 scams in 8 typologies, 50 legitimate look-alikes; English and Chinese; images, PDFs, text), frozen before any system ran. Run through the deployed API on Cloud Run, gemini-3.8-flash, 16 Oct 2026.</a:t>
            </a:r>
          </a:p>
        </p:txBody>
      </p:sp>
      <p:graphicFrame>
        <p:nvGraphicFramePr>
          <p:cNvPr id="145" name="Table 144"/>
          <p:cNvGraphicFramePr>
            <a:graphicFrameLocks noGrp="1"/>
          </p:cNvGraphicFramePr>
          <p:nvPr/>
        </p:nvGraphicFramePr>
        <p:xfrm>
          <a:off x="292608" y="1627632"/>
          <a:ext cx="5486400" cy="987552"/>
        </p:xfrm>
        <a:graphic>
          <a:graphicData uri="http://schemas.openxmlformats.org/drawingml/2006/table">
            <a:tbl>
              <a:tblPr firstRow="1" bandRow="1"/>
              <a:tblGrid>
                <a:gridCol w="1417320"/>
                <a:gridCol w="678180"/>
                <a:gridCol w="678180"/>
                <a:gridCol w="678180"/>
                <a:gridCol w="678180"/>
                <a:gridCol w="678180"/>
                <a:gridCol w="67818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System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Scam recall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False positives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Legit → RED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Typology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p50 latency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Cost / check</a:t>
                      </a:r>
                    </a:p>
                  </a:txBody>
                  <a:tcPr marL="36576" marR="36576" marT="18288" marB="18288" anchor="ctr">
                    <a:solidFill>
                      <a:srgbClr val="202124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Rules only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78%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44%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n/a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0.9 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$0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Gemini, single prompt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100%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4%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0%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96%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5.4 s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$0.0012</a:t>
                      </a:r>
                    </a:p>
                  </a:txBody>
                  <a:tcPr marL="36576" marR="36576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PauseGuard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100%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4%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0%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92%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7.6 s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202124"/>
                          </a:solidFill>
                          <a:latin typeface="Google Sans Flex"/>
                          <a:ea typeface="Google Sans Flex"/>
                          <a:cs typeface="Google Sans Flex"/>
                        </a:rPr>
                        <a:t>$0.0070</a:t>
                      </a:r>
                    </a:p>
                  </a:txBody>
                  <a:tcPr marL="36576" marR="36576" marT="18288" marB="18288"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pic>
        <p:nvPicPr>
          <p:cNvPr id="146" name="Picture 1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6168" y="1627632"/>
            <a:ext cx="2935223" cy="1651063"/>
          </a:xfrm>
          <a:prstGeom prst="rect">
            <a:avLst/>
          </a:prstGeom>
        </p:spPr>
      </p:pic>
      <p:sp>
        <p:nvSpPr>
          <p:cNvPr id="147" name="TextBox 146"/>
          <p:cNvSpPr txBox="1"/>
          <p:nvPr/>
        </p:nvSpPr>
        <p:spPr>
          <a:xfrm>
            <a:off x="292608" y="2752344"/>
            <a:ext cx="5486400" cy="2203703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300"/>
              </a:spcAft>
              <a:buFont typeface="Google Sans Flex"/>
              <a:buChar char="●"/>
            </a:pPr>
            <a:r>
              <a:rPr sz="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Rules alone miss 1 in 5 scams and stop 44% of good payments; reading the conversation fixes both.</a:t>
            </a:r>
          </a:p>
          <a:p>
            <a:pPr algn="l" marL="164592" indent="-164592">
              <a:spcAft>
                <a:spcPts val="300"/>
              </a:spcAft>
              <a:buFont typeface="Google Sans Flex"/>
              <a:buChar char="●"/>
            </a:pPr>
            <a:r>
              <a:rPr sz="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A single prompt is as accurate here but has no time budget: 12/100 answers took over 12 s. PauseGuard adds an auditable verdict, a safe 12 s fallback, boxes, explanations, case files and an injection hard stop.</a:t>
            </a:r>
          </a:p>
          <a:p>
            <a:pPr algn="l" marL="164592" indent="-164592">
              <a:spcAft>
                <a:spcPts val="300"/>
              </a:spcAft>
              <a:buFont typeface="Google Sans Flex"/>
              <a:buChar char="●"/>
            </a:pPr>
            <a:r>
              <a:rPr sz="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Both PauseGuard false alarms were timeouts (AMBER + review): 48/48 scams and 0/48 legit on finished analyses. Same results across languages and age groups.</a:t>
            </a:r>
          </a:p>
          <a:p>
            <a:pPr algn="l" marL="164592" indent="-164592">
              <a:spcAft>
                <a:spcPts val="300"/>
              </a:spcAft>
              <a:buFont typeface="Google Sans Flex"/>
              <a:buChar char="●"/>
            </a:pPr>
            <a:r>
              <a:rPr sz="9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Limits: synthetic data and our own labels; p50 7.6 s misses our 5 s target. Full report, fairness tables and charts: eval/reports/benchmark.md.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292608" y="1170432"/>
            <a:ext cx="8558784" cy="3785615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Bank pilot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with consented data: measure real recall, false positives and the share of checks that need an analyst</a:t>
            </a:r>
          </a:p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More signals: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telco scam-call flags and national anti-scam feeds into the shared watchlist</a:t>
            </a:r>
          </a:p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More people: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voice-note and call check-ins; Malay, Tamil, Bahasa Indonesia, Thai and Vietnamese; a senior mode</a:t>
            </a:r>
          </a:p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Trusted-contact co-approval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for older customers' large first payments</a:t>
            </a:r>
          </a:p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Platform: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Vertex AI Agent Engine with session memory; cheaper web intel (caching, skipping on watchlist hits); a weekly eval re-run for drift</a:t>
            </a:r>
          </a:p>
          <a:p>
            <a:pPr algn="l" marL="164592" indent="-164592">
              <a:spcAft>
                <a:spcPts val="1100"/>
              </a:spcAft>
              <a:buFont typeface="Google Sans Flex"/>
              <a:buChar char="●"/>
            </a:pPr>
            <a:r>
              <a:rPr sz="140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Policy fit:</a:t>
            </a:r>
            <a:r>
              <a:rPr sz="140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aligned with Singapore's Shared Responsibility Framework and MAS guidance; then a path across JAPAC banks and wallets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Provide links to your: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GitHub Public Repository</a:t>
            </a:r>
            <a:r>
              <a:rPr sz="1400">
                <a:latin typeface="Google Sans Flex Medium"/>
              </a:rPr>
              <a:t>: </a:t>
            </a:r>
            <a:r>
              <a:rPr sz="1400">
                <a:solidFill>
                  <a:srgbClr val="1A73E8"/>
                </a:solidFill>
                <a:latin typeface="Google Sans Flex Medium"/>
                <a:hlinkClick r:id="rId5"/>
              </a:rPr>
              <a:t>https://github.com/cikohtech/pauseguard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Demo Video Link (3 Minutes)</a:t>
            </a:r>
            <a:r>
              <a:rPr sz="12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: (the YouTube link is added before submitting)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1000"/>
              </a:spcAft>
              <a:buSzPts val="1400"/>
              <a:buFont typeface="Google Sans Flex Medium"/>
              <a:buChar char="●"/>
            </a:pPr>
            <a:r>
              <a:rPr lang="en-GB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Final Product Link</a:t>
            </a:r>
            <a:r>
              <a:rPr sz="1400">
                <a:latin typeface="Google Sans Flex Medium"/>
              </a:rPr>
              <a:t>: </a:t>
            </a:r>
            <a:r>
              <a:rPr sz="1400">
                <a:solidFill>
                  <a:srgbClr val="1A73E8"/>
                </a:solidFill>
                <a:latin typeface="Google Sans Flex Medium"/>
                <a:hlinkClick r:id="rId6"/>
              </a:rPr>
              <a:t>https://pauseguard-sg.web.app</a:t>
            </a:r>
            <a:r>
              <a:rPr sz="1100" b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(customer app: /app · analyst console: /console, demo login prefilled: analyst@harbourbank.example / HarbourDemo2026)</a:t>
            </a:r>
            <a:endParaRPr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How we use Firebase, Firestore, Cloud Run and Gemini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7" name="Rounded Rectangle 166"/>
          <p:cNvSpPr/>
          <p:nvPr/>
        </p:nvSpPr>
        <p:spPr>
          <a:xfrm>
            <a:off x="292608" y="1170432"/>
            <a:ext cx="4187952" cy="1801367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429768" y="1243584"/>
            <a:ext cx="3913632" cy="165506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Firebase: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Hosting serves the React app (customer banking mock, analyst console, landing page); Auth gives customers anonymous sign-in and analysts email/password with a role=analyst custom claim that the API and Firestore rules check.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663440" y="1170432"/>
            <a:ext cx="4187952" cy="1801367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4800600" y="1243584"/>
            <a:ext cx="3913632" cy="165506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Firestore: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stores checks, cases, the scam watchlist, the audit log and analytics; its realtime listener drops a held payment into the analyst console in under a second, and an analyst's "report scam" updates the watchlist for every customer.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292608" y="3154680"/>
            <a:ext cx="4187952" cy="1801367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TextBox 171"/>
          <p:cNvSpPr txBox="1"/>
          <p:nvPr/>
        </p:nvSpPr>
        <p:spPr>
          <a:xfrm>
            <a:off x="429768" y="3227832"/>
            <a:ext cx="3913632" cy="165506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Run: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hosts the FastAPI + ADK agent backend in Singapore: it runs the evidence agent and watchlist lookups in parallel, applies the deterministic policy, streams progress to the app and finishes the case file in the background.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4663440" y="3154680"/>
            <a:ext cx="4187952" cy="1801367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 w="9525"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4800600" y="3227832"/>
            <a:ext cx="3913632" cy="165506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250" b="1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 (3.8 Flash on Vertex AI):</a:t>
            </a:r>
            <a:r>
              <a:rPr sz="1250" b="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 powers all 5 ADK agents: it reads screenshots and PDFs and boxes the red flags, writes the English/Chinese explanation and the analyst case file, and checks unknown sites with Google Search grounding, all as validated structured JSON.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